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3"/>
    <p:sldMasterId id="2147483674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72" r:id="rId13"/>
    <p:sldId id="273" r:id="rId14"/>
    <p:sldId id="281" r:id="rId15"/>
    <p:sldId id="266" r:id="rId16"/>
    <p:sldId id="267" r:id="rId17"/>
    <p:sldId id="268" r:id="rId18"/>
    <p:sldId id="274" r:id="rId19"/>
    <p:sldId id="263" r:id="rId20"/>
    <p:sldId id="264" r:id="rId21"/>
    <p:sldId id="265" r:id="rId22"/>
  </p:sldIdLst>
  <p:sldSz cx="9144000" cy="5143500"/>
  <p:notesSz cx="6858000" cy="9144000"/>
  <p:embeddedFontLst>
    <p:embeddedFont>
      <p:font typeface="Roboto" panose="02000000000000000000"/>
      <p:regular r:id="rId26"/>
    </p:embeddedFont>
    <p:embeddedFont>
      <p:font typeface="Roboto Medium" panose="0200000000000000000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5530" userDrawn="1">
          <p15:clr>
            <a:srgbClr val="A4A3A4"/>
          </p15:clr>
        </p15:guide>
        <p15:guide id="2" pos="397" userDrawn="1">
          <p15:clr>
            <a:srgbClr val="9AA0A6"/>
          </p15:clr>
        </p15:guide>
        <p15:guide id="3" orient="horz" pos="3240" userDrawn="1">
          <p15:clr>
            <a:srgbClr val="9AA0A6"/>
          </p15:clr>
        </p15:guide>
        <p15:guide id="4" orient="horz" pos="0" userDrawn="1">
          <p15:clr>
            <a:srgbClr val="747775"/>
          </p15:clr>
        </p15:guide>
        <p15:guide id="5" orient="horz" pos="510" userDrawn="1">
          <p15:clr>
            <a:srgbClr val="747775"/>
          </p15:clr>
        </p15:guide>
        <p15:guide id="6" pos="10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E49245-CE7F-4F8A-8C4E-0C565C13C1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pos="5530"/>
        <p:guide pos="397"/>
        <p:guide orient="horz" pos="3240"/>
        <p:guide orient="horz"/>
        <p:guide orient="horz" pos="510"/>
        <p:guide pos="10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f7d84ce1d_0_0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f7d84ce1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0f7d84ce1d_0_125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0f7d84ce1d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e823becd0_0_40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e823becd0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f7d84ce1d_0_256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f7d84ce1d_0_2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98075b259_0_20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98075b259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f98075b259_0_38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f98075b259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f98075b259_0_51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f98075b259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04438fcaf_0_1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04438fcaf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f7d84ce1d_0_388:notes"/>
          <p:cNvSpPr/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f7d84ce1d_0_3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ТИТУЛЬНЫЙ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/>
          <a:srcRect l="99" r="99"/>
          <a:stretch>
            <a:fillRect/>
          </a:stretch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Белый слайд + заголовок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Тема вебинара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12"/>
          <p:cNvSpPr txBox="1"/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/>
              <a:buNone/>
              <a:defRPr sz="11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3"/>
          <p:cNvSpPr txBox="1"/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 panose="02070309020205020404"/>
              <a:buNone/>
              <a:defRPr sz="1100">
                <a:solidFill>
                  <a:schemeClr val="lt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14"/>
          <p:cNvSpPr txBox="1"/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 panose="02070309020205020404"/>
              <a:buNone/>
              <a:defRPr sz="13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15"/>
          <p:cNvSpPr txBox="1"/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 panose="02070309020205020404"/>
              <a:buNone/>
              <a:defRPr sz="13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блок текст + картинка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Цитата, фон градиент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1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2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3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EEEE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Этап 4</a:t>
            </a:r>
            <a:endParaRPr sz="1500" b="1">
              <a:solidFill>
                <a:srgbClr val="EEEEE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</a:t>
            </a:r>
            <a:r>
              <a:rPr lang="en-US" sz="9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 panose="02000000000000000000"/>
              <a:buNone/>
            </a:pPr>
            <a:r>
              <a:rPr lang="en-US" sz="9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3000000"/>
        </p:xfrm>
        <a:graphic>
          <a:graphicData uri="http://schemas.openxmlformats.org/drawingml/2006/table">
            <a:tbl>
              <a:tblPr>
                <a:noFill/>
                <a:tableStyleId>{F5E49245-CE7F-4F8A-8C4E-0C565C13C183}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 Описание эксперимента</a:t>
                      </a:r>
                      <a:r>
                        <a:rPr lang="en-US" sz="1700" b="1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endParaRPr lang="en-US" sz="1700" b="1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  Ожидаемый результат</a:t>
                      </a:r>
                      <a:endParaRPr lang="en-US"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 panose="02000000000000000000"/>
                        <a:buChar char="●"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 panose="02000000000000000000"/>
                        <a:buChar char="●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ссылка на источник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7961150" cy="3000000"/>
        </p:xfrm>
        <a:graphic>
          <a:graphicData uri="http://schemas.openxmlformats.org/drawingml/2006/table">
            <a:tbl>
              <a:tblPr>
                <a:noFill/>
                <a:tableStyleId>{F5E49245-CE7F-4F8A-8C4E-0C565C13C183}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  <a:endParaRPr lang="en-US" sz="1100">
              <a:solidFill>
                <a:srgbClr val="333333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Поле для текста</a:t>
            </a:r>
            <a:endParaRPr lang="en-US" sz="1100">
              <a:solidFill>
                <a:srgbClr val="333333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Определение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857F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Определение</a:t>
            </a:r>
            <a:r>
              <a:rPr lang="en-US" sz="240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– </a:t>
            </a:r>
            <a:r>
              <a:rPr lang="en-US" sz="2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Важный тезис крупным шрифтом 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2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текст + картинка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Главная мысль </a:t>
            </a:r>
            <a:endParaRPr sz="33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слайда, тезис, определение</a:t>
            </a:r>
            <a:endParaRPr sz="33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/>
          <a:srcRect t="10742" b="10734"/>
          <a:stretch>
            <a:fillRect/>
          </a:stretch>
        </p:blipFill>
        <p:spPr>
          <a:xfrm>
            <a:off x="5581050" y="867901"/>
            <a:ext cx="2868000" cy="31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Тема вебинара">
  <p:cSld name="TITLE_AND_TWO_COLUMN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34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" name="Google Shape;138;p34"/>
          <p:cNvSpPr txBox="1"/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39" name="Google Shape;139;p34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37"/>
          <p:cNvSpPr txBox="1"/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/>
              <a:buNone/>
              <a:defRPr sz="11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40"/>
          <p:cNvSpPr txBox="1"/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 panose="02070309020205020404"/>
              <a:buNone/>
              <a:defRPr sz="1300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58" name="Google Shape;158;p40"/>
          <p:cNvSpPr txBox="1"/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62" name="Google Shape;162;p4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/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-синий">
  <p:cSld name="MAIN_POINT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 panose="02000000000000000000"/>
              <a:buNone/>
              <a:defRPr sz="31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/>
          <a:stretch>
            <a:fillRect/>
          </a:stretch>
        </a:blipFill>
        <a:effectLst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/>
          <a:stretch>
            <a:fillRect/>
          </a:stretch>
        </a:blip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 panose="02000000000000000000"/>
              <a:buNone/>
              <a:defRPr sz="31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 panose="02000000000000000000"/>
              <a:buChar char="●"/>
              <a:defRPr sz="17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○"/>
              <a:defRPr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●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○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 panose="02000000000000000000"/>
              <a:buChar char="■"/>
              <a:defRPr sz="1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33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2"/>
          <p:cNvPicPr preferRelativeResize="0"/>
          <p:nvPr/>
        </p:nvPicPr>
        <p:blipFill rotWithShape="1">
          <a:blip r:embed="rId1"/>
          <a:srcRect t="5495" b="38716"/>
          <a:stretch>
            <a:fillRect/>
          </a:stretch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2"/>
          <p:cNvSpPr/>
          <p:nvPr/>
        </p:nvSpPr>
        <p:spPr>
          <a:xfrm>
            <a:off x="433125" y="553500"/>
            <a:ext cx="4161600" cy="415500"/>
          </a:xfrm>
          <a:prstGeom prst="roundRect">
            <a:avLst>
              <a:gd name="adj" fmla="val 16667"/>
            </a:avLst>
          </a:prstGeom>
          <a:solidFill>
            <a:srgbClr val="740FB4"/>
          </a:solidFill>
          <a:ln>
            <a:noFill/>
          </a:ln>
          <a:effectLst>
            <a:outerShdw blurRad="200025" dist="28575" dir="5400000" algn="bl" rotWithShape="0">
              <a:srgbClr val="000000">
                <a:alpha val="2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74" name="Google Shape;374;p92"/>
          <p:cNvSpPr txBox="1"/>
          <p:nvPr/>
        </p:nvSpPr>
        <p:spPr>
          <a:xfrm>
            <a:off x="433070" y="1786255"/>
            <a:ext cx="6720205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Организация</a:t>
            </a:r>
            <a:r>
              <a:rPr lang="en-US" altLang="ru-RU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системы</a:t>
            </a:r>
            <a:r>
              <a:rPr lang="en-US" altLang="ru-RU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лояльности</a:t>
            </a:r>
            <a:r>
              <a:rPr lang="en-US" altLang="ru-RU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на</a:t>
            </a:r>
            <a:r>
              <a:rPr lang="en-US" altLang="ru-RU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altLang="en-US" sz="36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предприятии</a:t>
            </a:r>
            <a:endParaRPr lang="en-US" altLang="en-US" sz="3600" b="1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75" name="Google Shape;375;p92"/>
          <p:cNvSpPr txBox="1"/>
          <p:nvPr/>
        </p:nvSpPr>
        <p:spPr>
          <a:xfrm>
            <a:off x="572150" y="553500"/>
            <a:ext cx="4341300" cy="41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>
                <a:solidFill>
                  <a:srgbClr val="F4F4F6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Архитектор</a:t>
            </a:r>
            <a:r>
              <a:rPr lang="en-US" altLang="ru-RU" sz="1500">
                <a:solidFill>
                  <a:srgbClr val="F4F4F6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 1</a:t>
            </a:r>
            <a:r>
              <a:rPr lang="en-US" altLang="en-US" sz="1500">
                <a:solidFill>
                  <a:srgbClr val="F4F4F6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С</a:t>
            </a:r>
            <a:endParaRPr lang="en-US" altLang="en-US" sz="1500">
              <a:solidFill>
                <a:srgbClr val="F4F4F6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  <p:pic>
        <p:nvPicPr>
          <p:cNvPr id="376" name="Google Shape;376;p9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9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890040" y="1302249"/>
            <a:ext cx="1787901" cy="28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3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383" name="Google Shape;383;p9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4"/>
          <p:cNvSpPr txBox="1"/>
          <p:nvPr>
            <p:ph type="title"/>
          </p:nvPr>
        </p:nvSpPr>
        <p:spPr>
          <a:xfrm>
            <a:off x="501185" y="470069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>
                <a:solidFill>
                  <a:schemeClr val="bg2"/>
                </a:solidFill>
              </a:rPr>
              <a:t>Защита проекта</a:t>
            </a:r>
            <a:endParaRPr sz="300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000">
                <a:solidFill>
                  <a:schemeClr val="bg2"/>
                </a:solidFill>
              </a:rPr>
              <a:t>Тема:</a:t>
            </a:r>
            <a:r>
              <a:rPr lang="ru-RU" altLang="en-US" sz="3000">
                <a:solidFill>
                  <a:schemeClr val="bg2"/>
                </a:solidFill>
              </a:rPr>
              <a:t> О</a:t>
            </a:r>
            <a:r>
              <a:rPr lang="en-US" altLang="en-US" sz="3000">
                <a:solidFill>
                  <a:schemeClr val="bg2"/>
                </a:solidFill>
                <a:sym typeface="Roboto" panose="02000000000000000000"/>
              </a:rPr>
              <a:t>рганизация</a:t>
            </a:r>
            <a:r>
              <a:rPr lang="en-US" altLang="ru-RU" sz="3000">
                <a:solidFill>
                  <a:schemeClr val="bg2"/>
                </a:solidFill>
                <a:sym typeface="Roboto" panose="02000000000000000000"/>
              </a:rPr>
              <a:t> </a:t>
            </a:r>
            <a:r>
              <a:rPr lang="en-US" altLang="en-US" sz="3000">
                <a:solidFill>
                  <a:schemeClr val="bg2"/>
                </a:solidFill>
                <a:sym typeface="Roboto" panose="02000000000000000000"/>
              </a:rPr>
              <a:t>системы</a:t>
            </a:r>
            <a:r>
              <a:rPr lang="en-US" altLang="ru-RU" sz="3000">
                <a:solidFill>
                  <a:schemeClr val="bg2"/>
                </a:solidFill>
                <a:sym typeface="Roboto" panose="02000000000000000000"/>
              </a:rPr>
              <a:t> </a:t>
            </a:r>
            <a:r>
              <a:rPr lang="en-US" altLang="en-US" sz="3000">
                <a:solidFill>
                  <a:schemeClr val="bg2"/>
                </a:solidFill>
                <a:sym typeface="Roboto" panose="02000000000000000000"/>
              </a:rPr>
              <a:t>лояльности</a:t>
            </a:r>
            <a:br>
              <a:rPr lang="en-US" altLang="en-US" sz="3000">
                <a:solidFill>
                  <a:schemeClr val="bg2"/>
                </a:solidFill>
                <a:sym typeface="Roboto" panose="02000000000000000000"/>
              </a:rPr>
            </a:br>
            <a:r>
              <a:rPr lang="en-US" altLang="en-US" sz="3000">
                <a:solidFill>
                  <a:schemeClr val="bg2"/>
                </a:solidFill>
                <a:sym typeface="Roboto" panose="02000000000000000000"/>
              </a:rPr>
              <a:t>на</a:t>
            </a:r>
            <a:r>
              <a:rPr lang="en-US" altLang="ru-RU" sz="3000">
                <a:solidFill>
                  <a:schemeClr val="bg2"/>
                </a:solidFill>
                <a:sym typeface="Roboto" panose="02000000000000000000"/>
              </a:rPr>
              <a:t> </a:t>
            </a:r>
            <a:r>
              <a:rPr lang="en-US" altLang="en-US" sz="3000">
                <a:solidFill>
                  <a:schemeClr val="bg2"/>
                </a:solidFill>
                <a:sym typeface="Roboto" panose="02000000000000000000"/>
              </a:rPr>
              <a:t>предприятии</a:t>
            </a:r>
            <a:endParaRPr sz="3000"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chemeClr val="bg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pic>
        <p:nvPicPr>
          <p:cNvPr id="390" name="Google Shape;390;p94" descr="D:\YandexDisk\Info\Работа\Извеков АА.jpegИзвеков АА"/>
          <p:cNvPicPr preferRelativeResize="0"/>
          <p:nvPr/>
        </p:nvPicPr>
        <p:blipFill rotWithShape="1">
          <a:blip r:embed="rId1"/>
          <a:srcRect t="13047" b="13047"/>
          <a:stretch>
            <a:fillRect/>
          </a:stretch>
        </p:blipFill>
        <p:spPr>
          <a:xfrm>
            <a:off x="630000" y="236868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94"/>
          <p:cNvSpPr txBox="1"/>
          <p:nvPr/>
        </p:nvSpPr>
        <p:spPr>
          <a:xfrm>
            <a:off x="3615055" y="2746375"/>
            <a:ext cx="3757930" cy="37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300" b="1">
                <a:solidFill>
                  <a:srgbClr val="9857F3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Алексей Извеков</a:t>
            </a:r>
            <a:endParaRPr sz="2300" b="1">
              <a:solidFill>
                <a:srgbClr val="9857F3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92" name="Google Shape;392;p94"/>
          <p:cNvSpPr txBox="1"/>
          <p:nvPr/>
        </p:nvSpPr>
        <p:spPr>
          <a:xfrm>
            <a:off x="3615055" y="3122295"/>
            <a:ext cx="4728845" cy="90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300"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Занимаюсь разработкой на 1С уже более 12 лет.</a:t>
            </a:r>
            <a:endParaRPr lang="ru-RU" altLang="en-US" sz="1300"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rgbClr val="000000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Сейчас работаю техническим архитектором в крупном отечественном интеграторе.</a:t>
            </a:r>
            <a:endParaRPr lang="ru-RU" sz="1300">
              <a:solidFill>
                <a:srgbClr val="000000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5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План защиты</a:t>
            </a:r>
            <a:endParaRPr lang="en-US"/>
          </a:p>
        </p:txBody>
      </p:sp>
      <p:sp>
        <p:nvSpPr>
          <p:cNvPr id="398" name="Google Shape;398;p95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Цель и задачи проекта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99" name="Google Shape;399;p95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00" name="Google Shape;400;p95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Что получилось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01" name="Google Shape;401;p95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Выводы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402" name="Google Shape;402;p95"/>
          <p:cNvCxnSpPr>
            <a:stCxn id="398" idx="1"/>
            <a:endCxn id="399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95"/>
          <p:cNvCxnSpPr>
            <a:stCxn id="399" idx="1"/>
            <a:endCxn id="400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95"/>
          <p:cNvCxnSpPr>
            <a:stCxn id="400" idx="1"/>
            <a:endCxn id="401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5"/>
          <p:cNvCxnSpPr>
            <a:stCxn id="401" idx="1"/>
            <a:endCxn id="406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6" name="Google Shape;406;p95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Вопросы и рекомендации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6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Цел</a:t>
            </a:r>
            <a:r>
              <a:rPr lang="en-US" sz="3000" b="1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ь и задачи</a:t>
            </a:r>
            <a:r>
              <a:rPr lang="en-US" sz="3000" b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проекта</a:t>
            </a:r>
            <a:endParaRPr sz="3000" b="1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aphicFrame>
        <p:nvGraphicFramePr>
          <p:cNvPr id="412" name="Google Shape;412;p96"/>
          <p:cNvGraphicFramePr/>
          <p:nvPr>
            <p:custDataLst>
              <p:tags r:id="rId1"/>
            </p:custDataLst>
          </p:nvPr>
        </p:nvGraphicFramePr>
        <p:xfrm>
          <a:off x="687705" y="2024380"/>
          <a:ext cx="7239000" cy="3374390"/>
        </p:xfrm>
        <a:graphic>
          <a:graphicData uri="http://schemas.openxmlformats.org/drawingml/2006/table">
            <a:tbl>
              <a:tblPr>
                <a:noFill/>
                <a:tableStyleId>{F5E49245-CE7F-4F8A-8C4E-0C565C13C183}</a:tableStyleId>
              </a:tblPr>
              <a:tblGrid>
                <a:gridCol w="489585"/>
                <a:gridCol w="6749415"/>
              </a:tblGrid>
              <a:tr h="497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lang="ru-RU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Описать бизнес-процессы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endParaRPr sz="18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lang="ru-RU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Разработать и оформить в виде схем архитектуру</a:t>
                      </a:r>
                      <a:endParaRPr lang="ru-RU" altLang="en-US" sz="18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3.</a:t>
                      </a:r>
                      <a:endParaRPr lang="ru-RU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Развернуть необходимую инфраструктуру</a:t>
                      </a:r>
                      <a:endParaRPr lang="ru-RU" sz="18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lang="ru-RU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Создать минимальный функционал</a:t>
                      </a:r>
                      <a:endParaRPr lang="ru-RU" sz="18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519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lang="ru-RU" altLang="en-US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Сгенерировать тесты для проверки функционала</a:t>
                      </a:r>
                      <a:endParaRPr lang="ru-RU" altLang="en-US" sz="18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96"/>
          <p:cNvSpPr/>
          <p:nvPr/>
        </p:nvSpPr>
        <p:spPr>
          <a:xfrm>
            <a:off x="687705" y="1101090"/>
            <a:ext cx="7853045" cy="662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Цель проекта: </a:t>
            </a:r>
            <a:r>
              <a:rPr lang="ru-RU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создать </a:t>
            </a:r>
            <a:r>
              <a:rPr lang="en-US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MVP</a:t>
            </a:r>
            <a:r>
              <a:rPr lang="ru-RU" sz="1500">
                <a:solidFill>
                  <a:schemeClr val="dk1"/>
                </a:solidFill>
                <a:latin typeface="Roboto Medium" panose="02000000000000000000"/>
                <a:ea typeface="Roboto Medium" panose="02000000000000000000"/>
                <a:cs typeface="Roboto Medium" panose="02000000000000000000"/>
                <a:sym typeface="Roboto Medium" panose="02000000000000000000"/>
              </a:rPr>
              <a:t> системы лояльности для учёта бонусных баллов клиентов предприятия</a:t>
            </a:r>
            <a:endParaRPr lang="ru-RU" sz="1500">
              <a:solidFill>
                <a:schemeClr val="dk1"/>
              </a:solidFill>
              <a:latin typeface="Roboto Medium" panose="02000000000000000000"/>
              <a:ea typeface="Roboto Medium" panose="02000000000000000000"/>
              <a:cs typeface="Roboto Medium" panose="02000000000000000000"/>
              <a:sym typeface="Roboto Medium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425" name="Google Shape;425;p97"/>
          <p:cNvGraphicFramePr/>
          <p:nvPr>
            <p:custDataLst>
              <p:tags r:id="rId1"/>
            </p:custDataLst>
          </p:nvPr>
        </p:nvGraphicFramePr>
        <p:xfrm>
          <a:off x="430530" y="1640840"/>
          <a:ext cx="7760970" cy="2571750"/>
        </p:xfrm>
        <a:graphic>
          <a:graphicData uri="http://schemas.openxmlformats.org/drawingml/2006/table">
            <a:tbl>
              <a:tblPr>
                <a:noFill/>
                <a:tableStyleId>{F5E49245-CE7F-4F8A-8C4E-0C565C13C183}</a:tableStyleId>
              </a:tblPr>
              <a:tblGrid>
                <a:gridCol w="525145"/>
                <a:gridCol w="7235825"/>
              </a:tblGrid>
              <a:tr h="51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BPMN </a:t>
                      </a:r>
                      <a:r>
                        <a:rPr 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и 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PlantUML</a:t>
                      </a:r>
                      <a:endParaRPr lang="ru-RU" sz="16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Linux Ubuntu + Docker + Kafka</a:t>
                      </a:r>
                      <a:r>
                        <a:rPr lang="ru-RU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+ </a:t>
                      </a:r>
                      <a:r>
                        <a:rPr lang="en-US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Внешняя</a:t>
                      </a:r>
                      <a:r>
                        <a:rPr lang="en-US" alt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</a:t>
                      </a:r>
                      <a:r>
                        <a:rPr lang="en-US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компонента 1</a:t>
                      </a:r>
                      <a:r>
                        <a:rPr lang="ru-RU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С</a:t>
                      </a:r>
                      <a:endParaRPr lang="ru-RU" altLang="en-US" sz="16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</a:t>
                      </a:r>
                      <a:r>
                        <a:rPr lang="en-US" sz="1600" b="1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.</a:t>
                      </a:r>
                      <a:endParaRPr sz="1600" b="1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MS Windows 10 + </a:t>
                      </a:r>
                      <a:r>
                        <a:rPr 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платформа 1С </a:t>
                      </a:r>
                      <a:r>
                        <a:rPr lang="en-US" alt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8.3.25.1374</a:t>
                      </a:r>
                      <a:endParaRPr lang="en-US" altLang="ru-RU" sz="16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GitHub </a:t>
                      </a:r>
                      <a:r>
                        <a:rPr lang="ru-RU" altLang="en-US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и </a:t>
                      </a:r>
                      <a:r>
                        <a:rPr lang="en-US" alt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vanessa-bootstrap</a:t>
                      </a:r>
                      <a:endParaRPr lang="en-US" altLang="en-US" sz="16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43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lang="ru-RU" altLang="en-US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ru-RU" sz="1600">
                          <a:solidFill>
                            <a:schemeClr val="dk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Vanessa-Automation</a:t>
                      </a:r>
                      <a:endParaRPr lang="en-US" altLang="ru-RU" sz="16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"/>
          <p:cNvSpPr txBox="1"/>
          <p:nvPr>
            <p:ph type="title"/>
          </p:nvPr>
        </p:nvSpPr>
        <p:spPr>
          <a:xfrm>
            <a:off x="2592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Что получилось</a:t>
            </a:r>
            <a:endParaRPr sz="300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59080" y="1120140"/>
            <a:ext cx="5259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16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Git: https://github.com/Alex-iz/otus-arch1c.git</a:t>
            </a:r>
            <a:endParaRPr lang="en-US" altLang="ru-RU" sz="1600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1035" y="330835"/>
            <a:ext cx="3093720" cy="437959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295" y="3116580"/>
            <a:ext cx="2745740" cy="149098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259080" y="1741805"/>
            <a:ext cx="5185410" cy="2298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000"/>
              <a:t>1. База 1С (</a:t>
            </a:r>
            <a:r>
              <a:rPr lang="ru-RU" altLang="ru-RU" sz="2000"/>
              <a:t>с обменами и отчётами</a:t>
            </a:r>
            <a:r>
              <a:rPr lang="en-US" altLang="ru-RU" sz="2000"/>
              <a:t>)</a:t>
            </a:r>
            <a:endParaRPr lang="ru-RU" altLang="en-US" sz="2000"/>
          </a:p>
          <a:p>
            <a:pPr>
              <a:lnSpc>
                <a:spcPct val="150000"/>
              </a:lnSpc>
            </a:pPr>
            <a:r>
              <a:rPr lang="ru-RU" altLang="en-US" sz="2000"/>
              <a:t>2. </a:t>
            </a:r>
            <a:r>
              <a:rPr lang="en-US" altLang="en-US" sz="2000"/>
              <a:t>Kafka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ru-RU" altLang="en-US" sz="2000"/>
              <a:t>3. </a:t>
            </a:r>
            <a:r>
              <a:rPr lang="en-US" altLang="en-US" sz="2000"/>
              <a:t>REST API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ru-RU" altLang="en-US" sz="2000"/>
              <a:t>4. Тесты</a:t>
            </a:r>
            <a:endParaRPr lang="ru-RU" altLang="en-US" sz="2000"/>
          </a:p>
          <a:p>
            <a:pPr>
              <a:lnSpc>
                <a:spcPct val="150000"/>
              </a:lnSpc>
            </a:pPr>
            <a:r>
              <a:rPr lang="ru-RU" altLang="en-US" sz="2000"/>
              <a:t>5. Схемы</a:t>
            </a:r>
            <a:endParaRPr lang="ru-RU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823595" y="219710"/>
            <a:ext cx="2338705" cy="773430"/>
          </a:xfrm>
        </p:spPr>
        <p:txBody>
          <a:bodyPr/>
          <a:p>
            <a:r>
              <a:rPr lang="en-US" altLang="en-US"/>
              <a:t>UI / UX</a:t>
            </a:r>
            <a:endParaRPr lang="en-US" altLang="en-US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0" y="588645"/>
            <a:ext cx="4614545" cy="396557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993140"/>
            <a:ext cx="3267075" cy="3561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734695" y="419735"/>
            <a:ext cx="3208655" cy="1096010"/>
          </a:xfrm>
        </p:spPr>
        <p:txBody>
          <a:bodyPr/>
          <a:p>
            <a:r>
              <a:rPr lang="ru-RU" altLang="ru-RU" sz="2400"/>
              <a:t>Диаграмма </a:t>
            </a:r>
            <a:r>
              <a:rPr lang="en-US" altLang="ru-RU" sz="2400"/>
              <a:t>C1</a:t>
            </a:r>
            <a:endParaRPr lang="en-US" altLang="ru-RU" sz="2400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1146810"/>
            <a:ext cx="2984500" cy="369633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35" y="200025"/>
            <a:ext cx="2827020" cy="4805045"/>
          </a:xfrm>
          <a:prstGeom prst="rect">
            <a:avLst/>
          </a:prstGeom>
        </p:spPr>
      </p:pic>
      <p:sp>
        <p:nvSpPr>
          <p:cNvPr id="6" name="Заголовок 1"/>
          <p:cNvSpPr/>
          <p:nvPr/>
        </p:nvSpPr>
        <p:spPr>
          <a:xfrm>
            <a:off x="4126230" y="419735"/>
            <a:ext cx="3208655" cy="1096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 panose="02000000000000000000"/>
              <a:buNone/>
              <a:defRPr sz="3100" b="1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 panose="02000000000000000000"/>
              <a:buNone/>
              <a:defRPr sz="28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ru-RU" altLang="ru-RU" sz="2400"/>
              <a:t>Диаграмма </a:t>
            </a:r>
            <a:r>
              <a:rPr lang="en-US" altLang="ru-RU" sz="2400"/>
              <a:t>C</a:t>
            </a:r>
            <a:r>
              <a:rPr lang="ru-RU" altLang="en-US" sz="2400"/>
              <a:t>2</a:t>
            </a:r>
            <a:endParaRPr lang="ru-RU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651510" y="527050"/>
            <a:ext cx="2346960" cy="771525"/>
          </a:xfrm>
        </p:spPr>
        <p:txBody>
          <a:bodyPr/>
          <a:p>
            <a:r>
              <a:rPr lang="en-US" altLang="en-US"/>
              <a:t>BPMN</a:t>
            </a:r>
            <a:endParaRPr lang="en-US" altLang="en-US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" y="1602740"/>
            <a:ext cx="8653780" cy="3063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417830" y="163830"/>
            <a:ext cx="8520430" cy="602615"/>
          </a:xfrm>
        </p:spPr>
        <p:txBody>
          <a:bodyPr/>
          <a:p>
            <a:r>
              <a:rPr lang="en-US" altLang="ru-RU"/>
              <a:t>Kafka</a:t>
            </a:r>
            <a:endParaRPr lang="en-US" altLang="ru-RU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2312035"/>
            <a:ext cx="8275955" cy="253111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855980"/>
            <a:ext cx="8355965" cy="1226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/>
        <p:txBody>
          <a:bodyPr/>
          <a:p>
            <a:r>
              <a:rPr lang="ru-RU" altLang="ru-RU"/>
              <a:t>Обмены</a:t>
            </a:r>
            <a:endParaRPr lang="ru-RU" altLang="ru-RU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5565" y="202565"/>
            <a:ext cx="3540760" cy="464058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426210"/>
            <a:ext cx="481965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433705" y="568325"/>
            <a:ext cx="8520430" cy="725170"/>
          </a:xfrm>
        </p:spPr>
        <p:txBody>
          <a:bodyPr/>
          <a:p>
            <a:r>
              <a:rPr lang="en-US" altLang="en-US"/>
              <a:t>REST API</a:t>
            </a:r>
            <a:endParaRPr lang="en-US" altLang="en-US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r>
              <a:rPr lang="en-US" altLang="ru-RU" sz="1800"/>
              <a:t>1</a:t>
            </a:r>
            <a:r>
              <a:rPr lang="ru-RU" altLang="ru-RU" sz="1800"/>
              <a:t>С + </a:t>
            </a:r>
            <a:r>
              <a:rPr lang="en-US" altLang="ru-RU" sz="1800"/>
              <a:t>Postman</a:t>
            </a:r>
            <a:endParaRPr lang="en-US" altLang="ru-RU" sz="18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830" y="1633855"/>
            <a:ext cx="6183630" cy="303530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2207260"/>
            <a:ext cx="24193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/>
          <p:nvPr>
            <p:ph type="title"/>
          </p:nvPr>
        </p:nvSpPr>
        <p:spPr>
          <a:xfrm>
            <a:off x="975360" y="558800"/>
            <a:ext cx="2548255" cy="1096010"/>
          </a:xfrm>
        </p:spPr>
        <p:txBody>
          <a:bodyPr/>
          <a:p>
            <a:r>
              <a:rPr lang="ru-RU" altLang="ru-RU"/>
              <a:t>Тесты</a:t>
            </a:r>
            <a:endParaRPr lang="ru-RU" altLang="ru-RU"/>
          </a:p>
        </p:txBody>
      </p:sp>
      <p:sp>
        <p:nvSpPr>
          <p:cNvPr id="3" name="Замещающий текст 2"/>
          <p:cNvSpPr/>
          <p:nvPr>
            <p:ph type="body" idx="1"/>
          </p:nvPr>
        </p:nvSpPr>
        <p:spPr/>
        <p:txBody>
          <a:bodyPr/>
          <a:p>
            <a:pPr marL="133350" indent="0">
              <a:buNone/>
            </a:pP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3745" y="497840"/>
            <a:ext cx="5727700" cy="358902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" y="1539240"/>
            <a:ext cx="3764915" cy="3190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439" name="Google Shape;439;p99"/>
          <p:cNvGraphicFramePr/>
          <p:nvPr>
            <p:custDataLst>
              <p:tags r:id="rId1"/>
            </p:custDataLst>
          </p:nvPr>
        </p:nvGraphicFramePr>
        <p:xfrm>
          <a:off x="633730" y="1116330"/>
          <a:ext cx="7760970" cy="3757295"/>
        </p:xfrm>
        <a:graphic>
          <a:graphicData uri="http://schemas.openxmlformats.org/drawingml/2006/table">
            <a:tbl>
              <a:tblPr>
                <a:noFill/>
                <a:tableStyleId>{F5E49245-CE7F-4F8A-8C4E-0C565C13C183}</a:tableStyleId>
              </a:tblPr>
              <a:tblGrid>
                <a:gridCol w="524510"/>
                <a:gridCol w="7236460"/>
              </a:tblGrid>
              <a:tr h="81343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MVP</a:t>
                      </a:r>
                      <a:r>
                        <a:rPr lang="ru-RU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 системы лояльности разработан, все поставленные задачи выполнены успешно.</a:t>
                      </a:r>
                      <a:endParaRPr lang="ru-RU" sz="160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Значительно сократила время проекта готовая инфраструктура, которая была развернута при выполнении домашних заданий.</a:t>
                      </a:r>
                      <a:endParaRPr lang="ru-RU" sz="160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3.</a:t>
                      </a:r>
                      <a:endParaRPr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Проект занял несколько дней.</a:t>
                      </a:r>
                      <a:endParaRPr lang="ru-RU" sz="160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28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4.</a:t>
                      </a:r>
                      <a:endParaRPr lang="ru-RU" altLang="en-US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Опыт оказался полезным, полученные навыки буду использовать в работе.</a:t>
                      </a:r>
                      <a:endParaRPr lang="ru-RU" altLang="en-US" sz="160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3435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 b="1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5.</a:t>
                      </a:r>
                      <a:endParaRPr lang="ru-RU" altLang="en-US" sz="1600" b="1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altLang="en-US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Планирую дополнительно практиковаться в администрировании </a:t>
                      </a:r>
                      <a:r>
                        <a:rPr lang="en-US" altLang="en-US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Linux</a:t>
                      </a:r>
                      <a:r>
                        <a:rPr lang="ru-RU" altLang="en-US" sz="1600">
                          <a:solidFill>
                            <a:srgbClr val="9857F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Roboto" panose="02000000000000000000"/>
                        </a:rPr>
                        <a:t>.</a:t>
                      </a:r>
                      <a:endParaRPr lang="ru-RU" altLang="en-US" sz="1600">
                        <a:solidFill>
                          <a:srgbClr val="9857F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100"/>
          <p:cNvPicPr preferRelativeResize="0"/>
          <p:nvPr/>
        </p:nvPicPr>
        <p:blipFill rotWithShape="1">
          <a:blip r:embed="rId1"/>
          <a:srcRect l="10873" b="29922"/>
          <a:stretch>
            <a:fillRect/>
          </a:stretch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49" name="Google Shape;449;p10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50" name="Google Shape;450;p10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51" name="Google Shape;451;p10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+</a:t>
            </a:r>
            <a:endParaRPr sz="4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52" name="Google Shape;452;p10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– </a:t>
            </a:r>
            <a:endParaRPr sz="4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1"/>
          <p:cNvPicPr preferRelativeResize="0"/>
          <p:nvPr/>
        </p:nvPicPr>
        <p:blipFill rotWithShape="1">
          <a:blip r:embed="rId1"/>
          <a:srcRect t="5495" b="38716"/>
          <a:stretch>
            <a:fillRect/>
          </a:stretch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1"/>
          <p:cNvSpPr txBox="1"/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</a:rPr>
              <a:t>Спасибо за внимание</a:t>
            </a:r>
            <a:r>
              <a:rPr lang="en-US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462" name="Google Shape;462;p10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70*223"/>
  <p:tag name="TABLE_ENDDRAG_RECT" val="54*159*570*223"/>
</p:tagLst>
</file>

<file path=ppt/tags/tag2.xml><?xml version="1.0" encoding="utf-8"?>
<p:tagLst xmlns:p="http://schemas.openxmlformats.org/presentationml/2006/main">
  <p:tag name="TABLE_ENDDRAG_ORIGIN_RECT" val="611*202"/>
  <p:tag name="TABLE_ENDDRAG_RECT" val="33*129*611*202"/>
</p:tagLst>
</file>

<file path=ppt/tags/tag3.xml><?xml version="1.0" encoding="utf-8"?>
<p:tagLst xmlns:p="http://schemas.openxmlformats.org/presentationml/2006/main">
  <p:tag name="TABLE_ENDDRAG_ORIGIN_RECT" val="611*295"/>
  <p:tag name="TABLE_ENDDRAG_RECT" val="49*87*611*295"/>
</p:tagLst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WPS Presentation</Application>
  <PresentationFormat/>
  <Paragraphs>140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Arial</vt:lpstr>
      <vt:lpstr>Roboto</vt:lpstr>
      <vt:lpstr>Courier New</vt:lpstr>
      <vt:lpstr>Roboto Medium</vt:lpstr>
      <vt:lpstr>Microsoft YaHei</vt:lpstr>
      <vt:lpstr>Arial Unicode MS</vt:lpstr>
      <vt:lpstr>Светлая тема</vt:lpstr>
      <vt:lpstr>Светлая тема</vt:lpstr>
      <vt:lpstr>Светлая тема</vt:lpstr>
      <vt:lpstr>PowerPoint 演示文稿</vt:lpstr>
      <vt:lpstr>&amp; слышно?</vt:lpstr>
      <vt:lpstr>Тема: Организация системы лояльности на предприятии</vt:lpstr>
      <vt:lpstr>План защиты</vt:lpstr>
      <vt:lpstr>PowerPoint 演示文稿</vt:lpstr>
      <vt:lpstr>Какие технологии использовались</vt:lpstr>
      <vt:lpstr>Что получилось</vt:lpstr>
      <vt:lpstr>UI / UX</vt:lpstr>
      <vt:lpstr>Диаграмма C1</vt:lpstr>
      <vt:lpstr>PowerPoint 演示文稿</vt:lpstr>
      <vt:lpstr>Kafka</vt:lpstr>
      <vt:lpstr>Обмены</vt:lpstr>
      <vt:lpstr>REST API</vt:lpstr>
      <vt:lpstr>Тесты</vt:lpstr>
      <vt:lpstr>Выводы</vt:lpstr>
      <vt:lpstr>PowerPoint 演示文稿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Алексей</cp:lastModifiedBy>
  <cp:revision>15</cp:revision>
  <dcterms:created xsi:type="dcterms:W3CDTF">2025-01-11T00:04:00Z</dcterms:created>
  <dcterms:modified xsi:type="dcterms:W3CDTF">2025-01-11T08:28:30Z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BF6CAEEADFCD44B8AA60A5962B4BC89E_12</vt:lpwstr>
  </property>
  <property fmtid="{D5CDD505-2E9C-101B-9397-08002B2CF9AE}" pid="3" name="KSOProductBuildVer">
    <vt:lpwstr>1049-12.2.0.19307</vt:lpwstr>
  </property>
</Properties>
</file>