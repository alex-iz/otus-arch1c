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3" r:id="rId3"/>
    <p:sldMasterId id="2147483674" r:id="rId4"/>
  </p:sldMasterIdLst>
  <p:notesMasterIdLst>
    <p:notesMasterId r:id="rId6"/>
  </p:notesMasterIdLst>
  <p:sldIdLst>
    <p:sldId id="256" r:id="rId5"/>
    <p:sldId id="257" r:id="rId7"/>
    <p:sldId id="258" r:id="rId8"/>
    <p:sldId id="259" r:id="rId9"/>
    <p:sldId id="260" r:id="rId10"/>
    <p:sldId id="261" r:id="rId11"/>
    <p:sldId id="262" r:id="rId12"/>
    <p:sldId id="272" r:id="rId13"/>
    <p:sldId id="273" r:id="rId14"/>
    <p:sldId id="266" r:id="rId15"/>
    <p:sldId id="267" r:id="rId16"/>
    <p:sldId id="268" r:id="rId17"/>
    <p:sldId id="274" r:id="rId18"/>
    <p:sldId id="263" r:id="rId19"/>
    <p:sldId id="264" r:id="rId20"/>
    <p:sldId id="265" r:id="rId21"/>
  </p:sldIdLst>
  <p:sldSz cx="9144000" cy="5143500"/>
  <p:notesSz cx="6858000" cy="9144000"/>
  <p:embeddedFontLst>
    <p:embeddedFont>
      <p:font typeface="Roboto" panose="02000000000000000000"/>
      <p:regular r:id="rId25"/>
    </p:embeddedFont>
    <p:embeddedFont>
      <p:font typeface="Roboto Medium" panose="02000000000000000000"/>
      <p:regular r:id="rId26"/>
      <p:bold r:id="rId27"/>
      <p: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pos="5530" userDrawn="1">
          <p15:clr>
            <a:srgbClr val="A4A3A4"/>
          </p15:clr>
        </p15:guide>
        <p15:guide id="2" pos="397" userDrawn="1">
          <p15:clr>
            <a:srgbClr val="9AA0A6"/>
          </p15:clr>
        </p15:guide>
        <p15:guide id="3" orient="horz" pos="3240" userDrawn="1">
          <p15:clr>
            <a:srgbClr val="9AA0A6"/>
          </p15:clr>
        </p15:guide>
        <p15:guide id="4" orient="horz" pos="0" userDrawn="1">
          <p15:clr>
            <a:srgbClr val="747775"/>
          </p15:clr>
        </p15:guide>
        <p15:guide id="5" orient="horz" pos="510" userDrawn="1">
          <p15:clr>
            <a:srgbClr val="747775"/>
          </p15:clr>
        </p15:guide>
        <p15:guide id="6" pos="102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E49245-CE7F-4F8A-8C4E-0C565C13C18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pos="5530"/>
        <p:guide pos="397"/>
        <p:guide orient="horz" pos="3240"/>
        <p:guide orient="horz"/>
        <p:guide orient="horz" pos="510"/>
        <p:guide pos="102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8" Type="http://schemas.openxmlformats.org/officeDocument/2006/relationships/font" Target="fonts/font4.fntdata"/><Relationship Id="rId27" Type="http://schemas.openxmlformats.org/officeDocument/2006/relationships/font" Target="fonts/font3.fntdata"/><Relationship Id="rId26" Type="http://schemas.openxmlformats.org/officeDocument/2006/relationships/font" Target="fonts/font2.fntdata"/><Relationship Id="rId25" Type="http://schemas.openxmlformats.org/officeDocument/2006/relationships/font" Target="fonts/font1.fntdata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0f7d84ce1d_0_0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0f7d84ce1d_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0f7d84ce1d_0_125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0f7d84ce1d_0_12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e823becd0_0_40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e823becd0_0_4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0f7d84ce1d_0_256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0f7d84ce1d_0_25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f98075b259_0_20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f98075b259_0_2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f98075b259_0_38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f98075b259_0_3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df29b9fb24_0_69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df29b9fb24_0_6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f98075b259_0_51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f98075b259_0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104438fcaf_0_1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104438fcaf_0_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0f7d84ce1d_0_388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0f7d84ce1d_0_38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ТИТУЛЬНЫЙ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/>
          <a:srcRect l="99" r="99"/>
          <a:stretch>
            <a:fillRect/>
          </a:stretch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2" name="Google Shape;12;p2"/>
          <p:cNvSpPr txBox="1"/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Белый слайд + заголовок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21" name="Google Shape;21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Тема вебинара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4" name="Google Shape;24;p6"/>
          <p:cNvSpPr txBox="1"/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27" name="Google Shape;27;p6"/>
          <p:cNvSpPr txBox="1"/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" name="Google Shape;28;p6"/>
          <p:cNvSpPr txBox="1"/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41" name="Google Shape;41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" name="Google Shape;50;p12"/>
          <p:cNvSpPr txBox="1"/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 panose="02070309020205020404"/>
              <a:buNone/>
              <a:defRPr sz="11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" name="Google Shape;54;p13"/>
          <p:cNvSpPr txBox="1"/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 panose="02070309020205020404"/>
              <a:buNone/>
              <a:defRPr sz="1100">
                <a:solidFill>
                  <a:schemeClr val="lt1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14"/>
          <p:cNvSpPr txBox="1"/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 panose="02070309020205020404"/>
              <a:buNone/>
              <a:defRPr sz="13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" name="Google Shape;63;p15"/>
          <p:cNvSpPr txBox="1"/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 panose="02070309020205020404"/>
              <a:buNone/>
              <a:defRPr sz="13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блок текст + картинка">
  <p:cSld name="TITLE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pic>
        <p:nvPicPr>
          <p:cNvPr id="71" name="Google Shape;71;p17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Цитата, фон градиент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4" name="Google Shape;74;p1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77" name="Google Shape;77;p1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1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2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3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4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8210400" cy="3000000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3800400"/>
                <a:gridCol w="4410000"/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 Описание эксперимента</a:t>
                      </a:r>
                      <a:r>
                        <a:rPr lang="en-US" sz="1700" b="1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endParaRPr lang="en-US" sz="1700" b="1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  Ожидаемый результат</a:t>
                      </a:r>
                      <a:endParaRPr lang="en-US"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 panose="02000000000000000000"/>
                        <a:buChar char="●"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ссылка на источник">
  <p:cSld name="TITLE_AND_TWO_COLUMN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7961150" cy="3000000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395875"/>
                <a:gridCol w="2403400"/>
                <a:gridCol w="2684725"/>
                <a:gridCol w="2477150"/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Текст нежирным шрифтом</a:t>
                      </a: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Текст нежирным шрифтом</a:t>
                      </a: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Поле для текста</a:t>
            </a:r>
            <a:endParaRPr lang="en-US" sz="110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Поле для текста</a:t>
            </a:r>
            <a:endParaRPr lang="en-US" sz="110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Определение">
  <p:cSld name="TITLE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/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2" name="Google Shape;122;p28"/>
          <p:cNvSpPr txBox="1"/>
          <p:nvPr/>
        </p:nvSpPr>
        <p:spPr>
          <a:xfrm>
            <a:off x="549614" y="1802270"/>
            <a:ext cx="76362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9857F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Определение</a:t>
            </a:r>
            <a:r>
              <a:rPr lang="en-US" sz="24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– </a:t>
            </a:r>
            <a:r>
              <a:rPr lang="en-US" sz="2400"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их типов данных, соглашений об именовании и правил проверки целостностей</a:t>
            </a:r>
            <a:endParaRPr sz="2400"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2400"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Важный тезис крупным шрифтом ">
  <p:cSld name="SECTION_HEADER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5" name="Google Shape;125;p2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текст + картинка">
  <p:cSld name="TITLE_AND_BOD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28" name="Google Shape;128;p30"/>
          <p:cNvSpPr txBox="1"/>
          <p:nvPr/>
        </p:nvSpPr>
        <p:spPr>
          <a:xfrm>
            <a:off x="630550" y="1572900"/>
            <a:ext cx="39063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Главная мысль </a:t>
            </a:r>
            <a:endParaRPr sz="3300" b="1"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слайда, тезис, определение</a:t>
            </a:r>
            <a:endParaRPr sz="3300" b="1"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pic>
        <p:nvPicPr>
          <p:cNvPr id="129" name="Google Shape;129;p30"/>
          <p:cNvPicPr preferRelativeResize="0"/>
          <p:nvPr/>
        </p:nvPicPr>
        <p:blipFill rotWithShape="1">
          <a:blip r:embed="rId2"/>
          <a:srcRect t="10742" b="10734"/>
          <a:stretch>
            <a:fillRect/>
          </a:stretch>
        </p:blipFill>
        <p:spPr>
          <a:xfrm>
            <a:off x="5581050" y="867901"/>
            <a:ext cx="2868000" cy="31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Тема вебинара">
  <p:cSld name="TITLE_AND_TWO_COLUMNS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7" name="Google Shape;137;p34"/>
          <p:cNvSpPr txBox="1"/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38" name="Google Shape;138;p34"/>
          <p:cNvSpPr txBox="1"/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139" name="Google Shape;139;p34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140" name="Google Shape;140;p3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6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7" name="Google Shape;147;p37"/>
          <p:cNvSpPr/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37"/>
          <p:cNvSpPr txBox="1"/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 panose="02070309020205020404"/>
              <a:buNone/>
              <a:defRPr sz="11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9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3" name="Google Shape;153;p39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0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6" name="Google Shape;156;p40"/>
          <p:cNvSpPr/>
          <p:nvPr/>
        </p:nvSpPr>
        <p:spPr>
          <a:xfrm>
            <a:off x="362300" y="1364963"/>
            <a:ext cx="47487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7" name="Google Shape;157;p40"/>
          <p:cNvSpPr txBox="1"/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 panose="02070309020205020404"/>
              <a:buNone/>
              <a:defRPr sz="13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158" name="Google Shape;158;p40"/>
          <p:cNvSpPr txBox="1"/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_1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500550" y="1783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162" name="Google Shape;162;p4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2"/>
          <p:cNvSpPr txBox="1"/>
          <p:nvPr>
            <p:ph type="title"/>
          </p:nvPr>
        </p:nvSpPr>
        <p:spPr>
          <a:xfrm>
            <a:off x="500550" y="2545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3"/>
          <p:cNvSpPr txBox="1"/>
          <p:nvPr>
            <p:ph type="sldNum" idx="12"/>
          </p:nvPr>
        </p:nvSpPr>
        <p:spPr>
          <a:xfrm>
            <a:off x="6583680" y="4783455"/>
            <a:ext cx="21030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-синий">
  <p:cSld name="MAIN_POINT_2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_3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5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3.png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11" Type="http://schemas.openxmlformats.org/officeDocument/2006/relationships/image" Target="../media/image3.png"/><Relationship Id="rId10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7.xml"/><Relationship Id="rId20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9" Type="http://schemas.openxmlformats.org/officeDocument/2006/relationships/image" Target="../media/image3.png"/><Relationship Id="rId18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5"/>
          <a:stretch>
            <a:fillRect/>
          </a:stretch>
        </a:blip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 panose="02000000000000000000"/>
              <a:buChar char="●"/>
              <a:defRPr sz="17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 panose="02000000000000000000"/>
              <a:buChar char="○"/>
              <a:defRPr sz="15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1"/>
          <a:stretch>
            <a:fillRect/>
          </a:stretch>
        </a:blipFill>
        <a:effectLst/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67" name="Google Shape;67;p16"/>
          <p:cNvSpPr txBox="1"/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 panose="02000000000000000000"/>
              <a:buChar char="●"/>
              <a:defRPr sz="17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 panose="02000000000000000000"/>
              <a:buChar char="○"/>
              <a:defRPr sz="15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68" name="Google Shape;68;p1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9"/>
          <a:stretch>
            <a:fillRect/>
          </a:stretch>
        </a:blipFill>
        <a:effectLst/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118" name="Google Shape;118;p27"/>
          <p:cNvSpPr txBox="1"/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 panose="02000000000000000000"/>
              <a:buChar char="●"/>
              <a:defRPr sz="17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 panose="02000000000000000000"/>
              <a:buChar char="○"/>
              <a:defRPr sz="15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119" name="Google Shape;119;p2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32.xml"/><Relationship Id="rId2" Type="http://schemas.openxmlformats.org/officeDocument/2006/relationships/image" Target="../media/image32.png"/><Relationship Id="rId1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2"/>
          <p:cNvPicPr preferRelativeResize="0"/>
          <p:nvPr/>
        </p:nvPicPr>
        <p:blipFill rotWithShape="1">
          <a:blip r:embed="rId1"/>
          <a:srcRect t="5495" b="38716"/>
          <a:stretch>
            <a:fillRect/>
          </a:stretch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2"/>
          <p:cNvSpPr/>
          <p:nvPr/>
        </p:nvSpPr>
        <p:spPr>
          <a:xfrm>
            <a:off x="433125" y="553500"/>
            <a:ext cx="4161600" cy="415500"/>
          </a:xfrm>
          <a:prstGeom prst="roundRect">
            <a:avLst>
              <a:gd name="adj" fmla="val 16667"/>
            </a:avLst>
          </a:prstGeom>
          <a:solidFill>
            <a:srgbClr val="740FB4"/>
          </a:solidFill>
          <a:ln>
            <a:noFill/>
          </a:ln>
          <a:effectLst>
            <a:outerShdw blurRad="200025" dist="28575" dir="5400000" algn="bl" rotWithShape="0">
              <a:srgbClr val="000000">
                <a:alpha val="2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374" name="Google Shape;374;p92"/>
          <p:cNvSpPr txBox="1"/>
          <p:nvPr/>
        </p:nvSpPr>
        <p:spPr>
          <a:xfrm>
            <a:off x="433070" y="1786255"/>
            <a:ext cx="6720205" cy="1311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Организация</a:t>
            </a:r>
            <a:r>
              <a:rPr lang="en-US" altLang="ru-RU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системы</a:t>
            </a:r>
            <a:r>
              <a:rPr lang="en-US" altLang="ru-RU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лояльности</a:t>
            </a:r>
            <a:r>
              <a:rPr lang="en-US" altLang="ru-RU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на</a:t>
            </a:r>
            <a:r>
              <a:rPr lang="en-US" altLang="ru-RU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предприятии</a:t>
            </a:r>
            <a:endParaRPr lang="en-US" altLang="en-US" sz="3600" b="1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375" name="Google Shape;375;p92"/>
          <p:cNvSpPr txBox="1"/>
          <p:nvPr/>
        </p:nvSpPr>
        <p:spPr>
          <a:xfrm>
            <a:off x="572150" y="553500"/>
            <a:ext cx="4341300" cy="41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500">
                <a:solidFill>
                  <a:srgbClr val="F4F4F6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Архитектор</a:t>
            </a:r>
            <a:r>
              <a:rPr lang="en-US" altLang="ru-RU" sz="1500">
                <a:solidFill>
                  <a:srgbClr val="F4F4F6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 1</a:t>
            </a:r>
            <a:r>
              <a:rPr lang="en-US" altLang="en-US" sz="1500">
                <a:solidFill>
                  <a:srgbClr val="F4F4F6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С</a:t>
            </a:r>
            <a:endParaRPr lang="en-US" altLang="en-US" sz="1500">
              <a:solidFill>
                <a:srgbClr val="F4F4F6"/>
              </a:solidFill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</p:txBody>
      </p:sp>
      <p:pic>
        <p:nvPicPr>
          <p:cNvPr id="376" name="Google Shape;376;p92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92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890040" y="1302249"/>
            <a:ext cx="1787901" cy="2849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3"/>
          <p:cNvSpPr txBox="1"/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383" name="Google Shape;383;p9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93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94"/>
          <p:cNvSpPr txBox="1"/>
          <p:nvPr>
            <p:ph type="title"/>
          </p:nvPr>
        </p:nvSpPr>
        <p:spPr>
          <a:xfrm>
            <a:off x="501185" y="470069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3000">
                <a:solidFill>
                  <a:schemeClr val="bg2"/>
                </a:solidFill>
              </a:rPr>
              <a:t>Защита проекта</a:t>
            </a:r>
            <a:endParaRPr sz="3000">
              <a:solidFill>
                <a:schemeClr val="bg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3000">
                <a:solidFill>
                  <a:schemeClr val="bg2"/>
                </a:solidFill>
              </a:rPr>
              <a:t>Тема:</a:t>
            </a:r>
            <a:r>
              <a:rPr lang="ru-RU" altLang="en-US" sz="3000">
                <a:solidFill>
                  <a:schemeClr val="bg2"/>
                </a:solidFill>
              </a:rPr>
              <a:t> О</a:t>
            </a: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рганизация</a:t>
            </a:r>
            <a:r>
              <a:rPr lang="en-US" altLang="ru-RU" sz="3000">
                <a:solidFill>
                  <a:schemeClr val="bg2"/>
                </a:solidFill>
                <a:sym typeface="Roboto" panose="02000000000000000000"/>
              </a:rPr>
              <a:t> </a:t>
            </a: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системы</a:t>
            </a:r>
            <a:r>
              <a:rPr lang="en-US" altLang="ru-RU" sz="3000">
                <a:solidFill>
                  <a:schemeClr val="bg2"/>
                </a:solidFill>
                <a:sym typeface="Roboto" panose="02000000000000000000"/>
              </a:rPr>
              <a:t> </a:t>
            </a: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лояльности</a:t>
            </a:r>
            <a:br>
              <a:rPr lang="en-US" altLang="en-US" sz="3000">
                <a:solidFill>
                  <a:schemeClr val="bg2"/>
                </a:solidFill>
                <a:sym typeface="Roboto" panose="02000000000000000000"/>
              </a:rPr>
            </a:b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на</a:t>
            </a:r>
            <a:r>
              <a:rPr lang="en-US" altLang="ru-RU" sz="3000">
                <a:solidFill>
                  <a:schemeClr val="bg2"/>
                </a:solidFill>
                <a:sym typeface="Roboto" panose="02000000000000000000"/>
              </a:rPr>
              <a:t> </a:t>
            </a: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предприятии</a:t>
            </a:r>
            <a:endParaRPr sz="3000">
              <a:solidFill>
                <a:schemeClr val="bg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chemeClr val="bg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chemeClr val="bg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2"/>
              </a:solidFill>
            </a:endParaRPr>
          </a:p>
        </p:txBody>
      </p:sp>
      <p:pic>
        <p:nvPicPr>
          <p:cNvPr id="390" name="Google Shape;390;p94" descr="D:\YandexDisk\Info\Работа\Извеков АА.jpegИзвеков АА"/>
          <p:cNvPicPr preferRelativeResize="0"/>
          <p:nvPr/>
        </p:nvPicPr>
        <p:blipFill rotWithShape="1">
          <a:blip r:embed="rId1"/>
          <a:srcRect t="13047" b="13047"/>
          <a:stretch>
            <a:fillRect/>
          </a:stretch>
        </p:blipFill>
        <p:spPr>
          <a:xfrm>
            <a:off x="630000" y="236868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91" name="Google Shape;391;p94"/>
          <p:cNvSpPr txBox="1"/>
          <p:nvPr/>
        </p:nvSpPr>
        <p:spPr>
          <a:xfrm>
            <a:off x="3615055" y="2746375"/>
            <a:ext cx="3757930" cy="37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2300" b="1">
                <a:solidFill>
                  <a:srgbClr val="9857F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Алексей Извеков</a:t>
            </a:r>
            <a:endParaRPr sz="2300" b="1">
              <a:solidFill>
                <a:srgbClr val="9857F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392" name="Google Shape;392;p94"/>
          <p:cNvSpPr txBox="1"/>
          <p:nvPr/>
        </p:nvSpPr>
        <p:spPr>
          <a:xfrm>
            <a:off x="3615055" y="3122295"/>
            <a:ext cx="4728845" cy="900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1300"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Занимаюсь разработкой на 1С уже более 12 лет.</a:t>
            </a:r>
            <a:endParaRPr lang="ru-RU" altLang="en-US" sz="1300"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rgbClr val="000000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Сейчас работаю техническим архитектором в крупном отечественном интеграторе.</a:t>
            </a:r>
            <a:endParaRPr lang="ru-RU" sz="1300">
              <a:solidFill>
                <a:srgbClr val="000000"/>
              </a:solidFill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5"/>
          <p:cNvSpPr txBox="1"/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План защиты</a:t>
            </a:r>
            <a:endParaRPr lang="en-US"/>
          </a:p>
        </p:txBody>
      </p:sp>
      <p:sp>
        <p:nvSpPr>
          <p:cNvPr id="398" name="Google Shape;398;p95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Цель и задачи проекта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399" name="Google Shape;399;p95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00" name="Google Shape;400;p95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Что получилось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01" name="Google Shape;401;p95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Выводы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cxnSp>
        <p:nvCxnSpPr>
          <p:cNvPr id="402" name="Google Shape;402;p95"/>
          <p:cNvCxnSpPr>
            <a:stCxn id="398" idx="1"/>
            <a:endCxn id="399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95"/>
          <p:cNvCxnSpPr>
            <a:stCxn id="399" idx="1"/>
            <a:endCxn id="400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4" name="Google Shape;404;p95"/>
          <p:cNvCxnSpPr>
            <a:stCxn id="400" idx="1"/>
            <a:endCxn id="401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5" name="Google Shape;405;p95"/>
          <p:cNvCxnSpPr>
            <a:stCxn id="401" idx="1"/>
            <a:endCxn id="406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06" name="Google Shape;406;p95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Вопросы и рекомендации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96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Цел</a:t>
            </a:r>
            <a:r>
              <a:rPr lang="en-US" sz="3000" b="1"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ь и задачи</a:t>
            </a:r>
            <a:r>
              <a:rPr lang="en-US" sz="3000" b="1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проекта</a:t>
            </a:r>
            <a:endParaRPr sz="3000" b="1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graphicFrame>
        <p:nvGraphicFramePr>
          <p:cNvPr id="412" name="Google Shape;412;p96"/>
          <p:cNvGraphicFramePr/>
          <p:nvPr>
            <p:custDataLst>
              <p:tags r:id="rId1"/>
            </p:custDataLst>
          </p:nvPr>
        </p:nvGraphicFramePr>
        <p:xfrm>
          <a:off x="687705" y="2024380"/>
          <a:ext cx="7239000" cy="3374390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489585"/>
                <a:gridCol w="6749415"/>
              </a:tblGrid>
              <a:tr h="497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lang="ru-RU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Описать бизнес-процессы</a:t>
                      </a:r>
                      <a:r>
                        <a:rPr lang="en-US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endParaRPr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lang="ru-RU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Разработать и оформить в виде схем архитектуру</a:t>
                      </a:r>
                      <a:endParaRPr lang="ru-RU" altLang="en-US"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lang="ru-RU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ru-RU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Развернуть необходимую инфраструктуру</a:t>
                      </a:r>
                      <a:endParaRPr lang="ru-RU"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lang="ru-RU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Создать минимальный функционал</a:t>
                      </a:r>
                      <a:endParaRPr lang="ru-RU"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88519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lang="ru-RU" altLang="en-US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Сгенерировать тесты для проверки функционала</a:t>
                      </a:r>
                      <a:endParaRPr lang="ru-RU" altLang="en-US"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413" name="Google Shape;413;p96"/>
          <p:cNvSpPr/>
          <p:nvPr/>
        </p:nvSpPr>
        <p:spPr>
          <a:xfrm>
            <a:off x="687705" y="1101090"/>
            <a:ext cx="7853045" cy="66230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Цель проекта: </a:t>
            </a:r>
            <a:r>
              <a:rPr lang="ru-RU" sz="150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создать </a:t>
            </a:r>
            <a:r>
              <a:rPr lang="en-US" sz="150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MVP</a:t>
            </a:r>
            <a:r>
              <a:rPr lang="ru-RU" sz="150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 системы лояльности для учёта бонусных баллов клиентов предприятия</a:t>
            </a:r>
            <a:endParaRPr lang="ru-RU" sz="1500">
              <a:solidFill>
                <a:schemeClr val="dk1"/>
              </a:solidFill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97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425" name="Google Shape;425;p97"/>
          <p:cNvGraphicFramePr/>
          <p:nvPr>
            <p:custDataLst>
              <p:tags r:id="rId1"/>
            </p:custDataLst>
          </p:nvPr>
        </p:nvGraphicFramePr>
        <p:xfrm>
          <a:off x="430530" y="1640840"/>
          <a:ext cx="7760970" cy="2571750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525145"/>
                <a:gridCol w="7235825"/>
              </a:tblGrid>
              <a:tr h="514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BPMN </a:t>
                      </a:r>
                      <a:r>
                        <a:rPr 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и </a:t>
                      </a:r>
                      <a:r>
                        <a:rPr 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PlantUML</a:t>
                      </a:r>
                      <a:endParaRPr lang="ru-RU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Linux Ubuntu + Docker + Kafka</a:t>
                      </a:r>
                      <a:r>
                        <a:rPr lang="ru-RU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+ </a:t>
                      </a:r>
                      <a:r>
                        <a:rPr lang="en-US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Внешняя</a:t>
                      </a:r>
                      <a:r>
                        <a:rPr lang="en-US" alt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r>
                        <a:rPr lang="en-US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компонента 1</a:t>
                      </a:r>
                      <a:r>
                        <a:rPr lang="ru-RU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С</a:t>
                      </a:r>
                      <a:endParaRPr lang="ru-RU" altLang="en-US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</a:t>
                      </a:r>
                      <a:r>
                        <a:rPr lang="en-US" sz="1600" b="1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.</a:t>
                      </a:r>
                      <a:endParaRPr sz="1600" b="1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MS Windows 10 + </a:t>
                      </a:r>
                      <a:r>
                        <a:rPr 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платформа 1С </a:t>
                      </a:r>
                      <a:r>
                        <a:rPr lang="en-US" alt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8.3.25.1374</a:t>
                      </a:r>
                      <a:endParaRPr lang="en-US" altLang="ru-RU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GitHub </a:t>
                      </a:r>
                      <a:r>
                        <a:rPr lang="ru-RU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и </a:t>
                      </a:r>
                      <a:r>
                        <a:rPr lang="en-US" alt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vanessa-bootstrap</a:t>
                      </a:r>
                      <a:endParaRPr lang="en-US" altLang="en-US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1435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lang="ru-RU" altLang="en-US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Vanessa-Automation</a:t>
                      </a:r>
                      <a:endParaRPr lang="en-US" altLang="ru-RU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98"/>
          <p:cNvSpPr txBox="1"/>
          <p:nvPr>
            <p:ph type="title"/>
          </p:nvPr>
        </p:nvSpPr>
        <p:spPr>
          <a:xfrm>
            <a:off x="2592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/>
              <a:t>Что получилось</a:t>
            </a:r>
            <a:endParaRPr sz="3000"/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259080" y="1120140"/>
            <a:ext cx="52590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1600" b="1">
                <a:gradFill>
                  <a:gsLst>
                    <a:gs pos="0">
                      <a:srgbClr val="012D86"/>
                    </a:gs>
                    <a:gs pos="100000">
                      <a:srgbClr val="0E2557"/>
                    </a:gs>
                  </a:gsLst>
                  <a:lin scaled="0"/>
                </a:gradFill>
              </a:rPr>
              <a:t>Git: https://github.com/Alex-iz/otus-arch1c.git</a:t>
            </a:r>
            <a:endParaRPr lang="en-US" altLang="ru-RU" sz="1600" b="1">
              <a:gradFill>
                <a:gsLst>
                  <a:gs pos="0">
                    <a:srgbClr val="012D86"/>
                  </a:gs>
                  <a:gs pos="100000">
                    <a:srgbClr val="0E2557"/>
                  </a:gs>
                </a:gsLst>
                <a:lin scaled="0"/>
              </a:gradFill>
            </a:endParaRPr>
          </a:p>
        </p:txBody>
      </p:sp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1035" y="330835"/>
            <a:ext cx="3093720" cy="4379595"/>
          </a:xfrm>
          <a:prstGeom prst="rect">
            <a:avLst/>
          </a:prstGeom>
        </p:spPr>
      </p:pic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295" y="3116580"/>
            <a:ext cx="2745740" cy="1490980"/>
          </a:xfrm>
          <a:prstGeom prst="rect">
            <a:avLst/>
          </a:prstGeom>
        </p:spPr>
      </p:pic>
      <p:sp>
        <p:nvSpPr>
          <p:cNvPr id="7" name="Текстовое поле 6"/>
          <p:cNvSpPr txBox="1"/>
          <p:nvPr/>
        </p:nvSpPr>
        <p:spPr>
          <a:xfrm>
            <a:off x="259080" y="1741805"/>
            <a:ext cx="5185410" cy="2298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ru-RU" altLang="en-US" sz="2000"/>
              <a:t>1. База 1С (</a:t>
            </a:r>
            <a:r>
              <a:rPr lang="ru-RU" altLang="ru-RU" sz="2000"/>
              <a:t>с обменами и отчётами</a:t>
            </a:r>
            <a:r>
              <a:rPr lang="en-US" altLang="ru-RU" sz="2000"/>
              <a:t>)</a:t>
            </a:r>
            <a:endParaRPr lang="ru-RU" altLang="en-US" sz="2000"/>
          </a:p>
          <a:p>
            <a:pPr>
              <a:lnSpc>
                <a:spcPct val="150000"/>
              </a:lnSpc>
            </a:pPr>
            <a:r>
              <a:rPr lang="ru-RU" altLang="en-US" sz="2000"/>
              <a:t>2. </a:t>
            </a:r>
            <a:r>
              <a:rPr lang="en-US" altLang="en-US" sz="2000"/>
              <a:t>Kafka</a:t>
            </a:r>
            <a:endParaRPr lang="en-US" altLang="en-US" sz="2000"/>
          </a:p>
          <a:p>
            <a:pPr>
              <a:lnSpc>
                <a:spcPct val="150000"/>
              </a:lnSpc>
            </a:pPr>
            <a:r>
              <a:rPr lang="ru-RU" altLang="en-US" sz="2000"/>
              <a:t>3. </a:t>
            </a:r>
            <a:r>
              <a:rPr lang="en-US" altLang="en-US" sz="2000"/>
              <a:t>REST API</a:t>
            </a:r>
            <a:endParaRPr lang="en-US" altLang="en-US" sz="2000"/>
          </a:p>
          <a:p>
            <a:pPr>
              <a:lnSpc>
                <a:spcPct val="150000"/>
              </a:lnSpc>
            </a:pPr>
            <a:r>
              <a:rPr lang="ru-RU" altLang="en-US" sz="2000"/>
              <a:t>4. Тесты</a:t>
            </a:r>
            <a:endParaRPr lang="ru-RU" altLang="en-US" sz="2000"/>
          </a:p>
          <a:p>
            <a:pPr>
              <a:lnSpc>
                <a:spcPct val="150000"/>
              </a:lnSpc>
            </a:pPr>
            <a:r>
              <a:rPr lang="ru-RU" altLang="en-US" sz="2000"/>
              <a:t>5. Схемы</a:t>
            </a:r>
            <a:endParaRPr lang="ru-RU" altLang="en-US"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/>
          <p:nvPr>
            <p:ph type="title"/>
          </p:nvPr>
        </p:nvSpPr>
        <p:spPr>
          <a:xfrm>
            <a:off x="823595" y="219710"/>
            <a:ext cx="2338705" cy="773430"/>
          </a:xfrm>
        </p:spPr>
        <p:txBody>
          <a:bodyPr/>
          <a:p>
            <a:r>
              <a:rPr lang="en-US" altLang="en-US"/>
              <a:t>UI / UX</a:t>
            </a:r>
            <a:endParaRPr lang="en-US" altLang="en-US"/>
          </a:p>
        </p:txBody>
      </p:sp>
      <p:sp>
        <p:nvSpPr>
          <p:cNvPr id="3" name="Замещающий текст 2"/>
          <p:cNvSpPr/>
          <p:nvPr>
            <p:ph type="body" idx="1"/>
          </p:nvPr>
        </p:nvSpPr>
        <p:spPr/>
        <p:txBody>
          <a:bodyPr/>
          <a:p>
            <a:pPr marL="133350" indent="0">
              <a:buNone/>
            </a:pPr>
            <a:endParaRPr lang="ru-RU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06900" y="588645"/>
            <a:ext cx="4614545" cy="3965575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0" y="993140"/>
            <a:ext cx="3267075" cy="3561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/>
          <p:nvPr>
            <p:ph type="title"/>
          </p:nvPr>
        </p:nvSpPr>
        <p:spPr>
          <a:xfrm>
            <a:off x="734695" y="419735"/>
            <a:ext cx="3208655" cy="1096010"/>
          </a:xfrm>
        </p:spPr>
        <p:txBody>
          <a:bodyPr/>
          <a:p>
            <a:r>
              <a:rPr lang="ru-RU" altLang="ru-RU" sz="2400"/>
              <a:t>Диаграмма </a:t>
            </a:r>
            <a:r>
              <a:rPr lang="en-US" altLang="ru-RU" sz="2400"/>
              <a:t>C1</a:t>
            </a:r>
            <a:endParaRPr lang="en-US" altLang="ru-RU" sz="2400"/>
          </a:p>
        </p:txBody>
      </p:sp>
      <p:sp>
        <p:nvSpPr>
          <p:cNvPr id="3" name="Замещающий текст 2"/>
          <p:cNvSpPr/>
          <p:nvPr>
            <p:ph type="body" idx="1"/>
          </p:nvPr>
        </p:nvSpPr>
        <p:spPr/>
        <p:txBody>
          <a:bodyPr/>
          <a:p>
            <a:pPr marL="133350" indent="0">
              <a:buNone/>
            </a:pPr>
            <a:endParaRPr lang="ru-RU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010" y="1146810"/>
            <a:ext cx="2984500" cy="3696335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7535" y="200025"/>
            <a:ext cx="2827020" cy="4805045"/>
          </a:xfrm>
          <a:prstGeom prst="rect">
            <a:avLst/>
          </a:prstGeom>
        </p:spPr>
      </p:pic>
      <p:sp>
        <p:nvSpPr>
          <p:cNvPr id="6" name="Заголовок 1"/>
          <p:cNvSpPr/>
          <p:nvPr/>
        </p:nvSpPr>
        <p:spPr>
          <a:xfrm>
            <a:off x="4126230" y="419735"/>
            <a:ext cx="3208655" cy="1096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ru-RU" altLang="ru-RU" sz="2400"/>
              <a:t>Диаграмма </a:t>
            </a:r>
            <a:r>
              <a:rPr lang="en-US" altLang="ru-RU" sz="2400"/>
              <a:t>C</a:t>
            </a:r>
            <a:r>
              <a:rPr lang="ru-RU" altLang="en-US" sz="2400"/>
              <a:t>2</a:t>
            </a:r>
            <a:endParaRPr lang="ru-RU" altLang="en-US"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/>
          <p:nvPr>
            <p:ph type="title"/>
          </p:nvPr>
        </p:nvSpPr>
        <p:spPr>
          <a:xfrm>
            <a:off x="417830" y="163830"/>
            <a:ext cx="8520430" cy="602615"/>
          </a:xfrm>
        </p:spPr>
        <p:txBody>
          <a:bodyPr/>
          <a:p>
            <a:r>
              <a:rPr lang="en-US" altLang="ru-RU"/>
              <a:t>Kafka</a:t>
            </a:r>
            <a:endParaRPr lang="en-US" altLang="ru-RU"/>
          </a:p>
        </p:txBody>
      </p:sp>
      <p:sp>
        <p:nvSpPr>
          <p:cNvPr id="3" name="Замещающий текст 2"/>
          <p:cNvSpPr/>
          <p:nvPr>
            <p:ph type="body" idx="1"/>
          </p:nvPr>
        </p:nvSpPr>
        <p:spPr/>
        <p:txBody>
          <a:bodyPr/>
          <a:p>
            <a:pPr marL="133350" indent="0">
              <a:buNone/>
            </a:pPr>
            <a:endParaRPr lang="ru-RU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380" y="2312035"/>
            <a:ext cx="8275955" cy="253111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0" y="855980"/>
            <a:ext cx="8355965" cy="12268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/>
          <p:nvPr>
            <p:ph type="title"/>
          </p:nvPr>
        </p:nvSpPr>
        <p:spPr/>
        <p:txBody>
          <a:bodyPr/>
          <a:p>
            <a:r>
              <a:rPr lang="ru-RU" altLang="ru-RU"/>
              <a:t>Обмены</a:t>
            </a:r>
            <a:endParaRPr lang="ru-RU" altLang="ru-RU"/>
          </a:p>
        </p:txBody>
      </p:sp>
      <p:sp>
        <p:nvSpPr>
          <p:cNvPr id="3" name="Замещающий текст 2"/>
          <p:cNvSpPr/>
          <p:nvPr>
            <p:ph type="body" idx="1"/>
          </p:nvPr>
        </p:nvSpPr>
        <p:spPr/>
        <p:txBody>
          <a:bodyPr/>
          <a:p>
            <a:pPr marL="133350" indent="0">
              <a:buNone/>
            </a:pPr>
            <a:endParaRPr lang="ru-RU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5565" y="202565"/>
            <a:ext cx="3540760" cy="464058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" y="1426210"/>
            <a:ext cx="481965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/>
          <p:nvPr>
            <p:ph type="title"/>
          </p:nvPr>
        </p:nvSpPr>
        <p:spPr>
          <a:xfrm>
            <a:off x="433705" y="568325"/>
            <a:ext cx="8520430" cy="725170"/>
          </a:xfrm>
        </p:spPr>
        <p:txBody>
          <a:bodyPr/>
          <a:p>
            <a:r>
              <a:rPr lang="en-US" altLang="en-US"/>
              <a:t>REST API</a:t>
            </a:r>
            <a:endParaRPr lang="en-US" altLang="en-US"/>
          </a:p>
        </p:txBody>
      </p:sp>
      <p:sp>
        <p:nvSpPr>
          <p:cNvPr id="3" name="Замещающий текст 2"/>
          <p:cNvSpPr/>
          <p:nvPr>
            <p:ph type="body" idx="1"/>
          </p:nvPr>
        </p:nvSpPr>
        <p:spPr/>
        <p:txBody>
          <a:bodyPr/>
          <a:p>
            <a:pPr marL="133350" indent="0">
              <a:buNone/>
            </a:pPr>
            <a:r>
              <a:rPr lang="en-US" altLang="ru-RU" sz="1800"/>
              <a:t>1</a:t>
            </a:r>
            <a:r>
              <a:rPr lang="ru-RU" altLang="ru-RU" sz="1800"/>
              <a:t>С + </a:t>
            </a:r>
            <a:r>
              <a:rPr lang="en-US" altLang="ru-RU" sz="1800"/>
              <a:t>Postman</a:t>
            </a:r>
            <a:endParaRPr lang="en-US" altLang="ru-RU" sz="1800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3830" y="1633855"/>
            <a:ext cx="6183630" cy="303530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" y="2207260"/>
            <a:ext cx="241935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/>
          <p:nvPr>
            <p:ph type="title"/>
          </p:nvPr>
        </p:nvSpPr>
        <p:spPr>
          <a:xfrm>
            <a:off x="975360" y="558800"/>
            <a:ext cx="2548255" cy="1096010"/>
          </a:xfrm>
        </p:spPr>
        <p:txBody>
          <a:bodyPr/>
          <a:p>
            <a:r>
              <a:rPr lang="ru-RU" altLang="ru-RU"/>
              <a:t>Тесты</a:t>
            </a:r>
            <a:endParaRPr lang="ru-RU" altLang="ru-RU"/>
          </a:p>
        </p:txBody>
      </p:sp>
      <p:sp>
        <p:nvSpPr>
          <p:cNvPr id="3" name="Замещающий текст 2"/>
          <p:cNvSpPr/>
          <p:nvPr>
            <p:ph type="body" idx="1"/>
          </p:nvPr>
        </p:nvSpPr>
        <p:spPr/>
        <p:txBody>
          <a:bodyPr/>
          <a:p>
            <a:pPr marL="133350" indent="0">
              <a:buNone/>
            </a:pPr>
            <a:endParaRPr lang="ru-RU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3745" y="497840"/>
            <a:ext cx="5727700" cy="358902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05" y="1539240"/>
            <a:ext cx="3764915" cy="3190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99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439" name="Google Shape;439;p99"/>
          <p:cNvGraphicFramePr/>
          <p:nvPr>
            <p:custDataLst>
              <p:tags r:id="rId1"/>
            </p:custDataLst>
          </p:nvPr>
        </p:nvGraphicFramePr>
        <p:xfrm>
          <a:off x="633730" y="1116330"/>
          <a:ext cx="7760970" cy="3757295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524510"/>
                <a:gridCol w="7236460"/>
              </a:tblGrid>
              <a:tr h="81343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MVP</a:t>
                      </a:r>
                      <a:r>
                        <a:rPr lang="ru-RU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системы лояльности разработан, все поставленные задачи выполнены успешно.</a:t>
                      </a:r>
                      <a:endParaRPr lang="ru-RU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8121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Значительно сократила время проекта готовая инфраструктура, которая была развернута при выполнении домашних заданий.</a:t>
                      </a:r>
                      <a:endParaRPr lang="ru-RU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0546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Проект занял несколько дней.</a:t>
                      </a:r>
                      <a:endParaRPr lang="ru-RU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81280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lang="ru-RU" altLang="en-US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Опыт оказался полезным, полученные навыки буду использовать в работе.</a:t>
                      </a:r>
                      <a:endParaRPr lang="ru-RU" altLang="en-US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813435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lang="ru-RU" altLang="en-US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Планирую дополнительно практиковаться в администрировании </a:t>
                      </a:r>
                      <a:r>
                        <a:rPr lang="en-US" alt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Linux</a:t>
                      </a:r>
                      <a:r>
                        <a:rPr lang="ru-RU" alt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.</a:t>
                      </a:r>
                      <a:endParaRPr lang="ru-RU" altLang="en-US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100"/>
          <p:cNvPicPr preferRelativeResize="0"/>
          <p:nvPr/>
        </p:nvPicPr>
        <p:blipFill rotWithShape="1">
          <a:blip r:embed="rId1"/>
          <a:srcRect l="10873" b="29922"/>
          <a:stretch>
            <a:fillRect/>
          </a:stretch>
        </p:blipFill>
        <p:spPr>
          <a:xfrm>
            <a:off x="-75950" y="0"/>
            <a:ext cx="94087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100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49" name="Google Shape;449;p100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50" name="Google Shape;450;p100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rgbClr val="FFFFFF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51" name="Google Shape;451;p100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+</a:t>
            </a:r>
            <a:endParaRPr sz="4300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52" name="Google Shape;452;p100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– </a:t>
            </a:r>
            <a:endParaRPr sz="4300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" name="Google Shape;460;p101"/>
          <p:cNvPicPr preferRelativeResize="0"/>
          <p:nvPr/>
        </p:nvPicPr>
        <p:blipFill rotWithShape="1">
          <a:blip r:embed="rId1"/>
          <a:srcRect t="5495" b="38716"/>
          <a:stretch>
            <a:fillRect/>
          </a:stretch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101"/>
          <p:cNvSpPr txBox="1"/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>
                <a:solidFill>
                  <a:schemeClr val="lt1"/>
                </a:solidFill>
              </a:rPr>
              <a:t>Спасибо за внимание</a:t>
            </a:r>
            <a:r>
              <a:rPr lang="en-US" sz="5000">
                <a:solidFill>
                  <a:schemeClr val="lt1"/>
                </a:solidFill>
              </a:rPr>
              <a:t>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462" name="Google Shape;462;p101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7328113" y="1616723"/>
            <a:ext cx="595986" cy="5959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570*223"/>
  <p:tag name="TABLE_ENDDRAG_RECT" val="54*159*570*223"/>
</p:tagLst>
</file>

<file path=ppt/tags/tag2.xml><?xml version="1.0" encoding="utf-8"?>
<p:tagLst xmlns:p="http://schemas.openxmlformats.org/presentationml/2006/main">
  <p:tag name="TABLE_ENDDRAG_ORIGIN_RECT" val="611*202"/>
  <p:tag name="TABLE_ENDDRAG_RECT" val="33*129*611*202"/>
</p:tagLst>
</file>

<file path=ppt/tags/tag3.xml><?xml version="1.0" encoding="utf-8"?>
<p:tagLst xmlns:p="http://schemas.openxmlformats.org/presentationml/2006/main">
  <p:tag name="TABLE_ENDDRAG_ORIGIN_RECT" val="611*295"/>
  <p:tag name="TABLE_ENDDRAG_RECT" val="49*87*611*295"/>
</p:tagLst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1532</Words>
  <Application>WPS Presentation</Application>
  <PresentationFormat/>
  <Paragraphs>138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16</vt:i4>
      </vt:variant>
    </vt:vector>
  </HeadingPairs>
  <TitlesOfParts>
    <vt:vector size="28" baseType="lpstr">
      <vt:lpstr>Arial</vt:lpstr>
      <vt:lpstr>SimSun</vt:lpstr>
      <vt:lpstr>Wingdings</vt:lpstr>
      <vt:lpstr>Arial</vt:lpstr>
      <vt:lpstr>Roboto</vt:lpstr>
      <vt:lpstr>Courier New</vt:lpstr>
      <vt:lpstr>Roboto Medium</vt:lpstr>
      <vt:lpstr>Microsoft YaHei</vt:lpstr>
      <vt:lpstr>Arial Unicode MS</vt:lpstr>
      <vt:lpstr>Светлая тема</vt:lpstr>
      <vt:lpstr>Светлая тема</vt:lpstr>
      <vt:lpstr>Светлая тема</vt:lpstr>
      <vt:lpstr>PowerPoint 演示文稿</vt:lpstr>
      <vt:lpstr>&amp; слышно?</vt:lpstr>
      <vt:lpstr>Тема: Организация системы лояльности на предприятии</vt:lpstr>
      <vt:lpstr>План защиты</vt:lpstr>
      <vt:lpstr>PowerPoint 演示文稿</vt:lpstr>
      <vt:lpstr>Какие технологии использовались</vt:lpstr>
      <vt:lpstr>Что получилось</vt:lpstr>
      <vt:lpstr>PowerPoint 演示文稿</vt:lpstr>
      <vt:lpstr>Диаграмма C1</vt:lpstr>
      <vt:lpstr>Kafka</vt:lpstr>
      <vt:lpstr>Обмены</vt:lpstr>
      <vt:lpstr>REST API</vt:lpstr>
      <vt:lpstr>PowerPoint 演示文稿</vt:lpstr>
      <vt:lpstr>Выводы</vt:lpstr>
      <vt:lpstr>PowerPoint 演示文稿</vt:lpstr>
      <vt:lpstr>Спасибо за внимание!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Алексей</cp:lastModifiedBy>
  <cp:revision>14</cp:revision>
  <dcterms:created xsi:type="dcterms:W3CDTF">2025-01-11T00:04:00Z</dcterms:created>
  <dcterms:modified xsi:type="dcterms:W3CDTF">2025-01-11T07:59:14Z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BF6CAEEADFCD44B8AA60A5962B4BC89E_12</vt:lpwstr>
  </property>
  <property fmtid="{D5CDD505-2E9C-101B-9397-08002B2CF9AE}" pid="3" name="KSOProductBuildVer">
    <vt:lpwstr>1049-12.2.0.19307</vt:lpwstr>
  </property>
</Properties>
</file>